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4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THEORY OF COMPUTATION  ·  MINI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Greibach</a:t>
            </a: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Normal Form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99923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Matrix Model for CFG → GNF Conversion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322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3977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322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3977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37760" y="3977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322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977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GNF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78024" y="4302252"/>
            <a:ext cx="256032" cy="128016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26864" y="4302252"/>
            <a:ext cx="256032" cy="128016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3977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aα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281160" y="3977640"/>
            <a:ext cx="2267712" cy="1691640"/>
          </a:xfrm>
          <a:prstGeom prst="roundRect">
            <a:avLst>
              <a:gd name="adj" fmla="val 4324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464040" y="440740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 Bobade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64040" y="4828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CM24053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464040" y="5166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CSE-AIML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1B2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swayam089-hub.github.io/GNF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GREIBACH NORMAL FORM CONVERTER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 OF THE CONVERSION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grammar G = (V, Σ, P, S) where every production has a single non-terminal on its left-hand side, generating context-free languages.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16642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Greibach Normal 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2402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restricted CFG form where every production starts with exactly one terminal, optionally followed by non-terminals.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0A112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75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GNF PRODUCTION 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aα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3931920" y="3657600"/>
            <a:ext cx="0" cy="960120"/>
          </a:xfrm>
          <a:prstGeom prst="line">
            <a:avLst/>
          </a:prstGeom>
          <a:noFill/>
          <a:ln w="19050">
            <a:solidFill>
              <a:srgbClr val="1B2C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6576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a single terminal symbol
</a:t>
            </a:r>
            <a:r>
              <a:rPr lang="en-US" sz="15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</a:t>
            </a: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zero or more non-terminals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 </a:t>
            </a:r>
            <a:r>
              <a:rPr lang="en-US" sz="1350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convert any Context-Free Grammar into Greibach Normal Form and validate the resulting productions.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C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GREIBACH NORMAL FORM CONVERTER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C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SIX-STAGE PIPELINE FROM INPUT GRAMMAR TO VERIFIED GNF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" y="1801368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CFG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6916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16916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78808" y="1801368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17880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0756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Productions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16916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16916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70648" y="1801368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47064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0756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Algebraic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Matrix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36118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6118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70648" y="3721608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747064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3995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069080" y="36118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36118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78808" y="3721608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417880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06240" y="3995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Final GNF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36118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6118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86968" y="3721608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88696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3995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GNF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21024" y="2153412"/>
            <a:ext cx="393192" cy="128016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912864" y="2153412"/>
            <a:ext cx="393192" cy="128016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2228" y="2816352"/>
            <a:ext cx="146304" cy="722376"/>
          </a:xfrm>
          <a:prstGeom prst="downArrow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912864" y="4073652"/>
            <a:ext cx="393192" cy="128016"/>
          </a:xfrm>
          <a:prstGeom prst="leftArrow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3621024" y="4073652"/>
            <a:ext cx="393192" cy="128016"/>
          </a:xfrm>
          <a:prstGeom prst="leftArrow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777240" y="502920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51480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WEBSITE MIRRORS THIS PIPELINE WITH DEDICATED SECTIONS: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05840" y="54864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Grammar   ·   Algebraic Production Matrix   ·   Transformation Steps   ·   Final GNF   ·   GNF Validation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GREIBACH NORMAL FORM CONVERTER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Production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STRUCTURING PRODUCTIONS FOR SYSTEMATIC SUBSTITUTION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Variables
</a:t>
            </a: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non-terminal in the grammar becomes one row of the matrix, keeping the grammar's structure organized.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0662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8775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= Alternatives
</a:t>
            </a: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production alternative for a variable is placed in its own column entry, in algebraic form.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87705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758184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= Algebraic Expressions
</a:t>
            </a: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holds a terminal/non-terminal string, letting substitution be applied like solving equations.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047488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928616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Transformation
</a:t>
            </a: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recursion and indirect references are eliminated by algebraic substitution across the matrix.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GRAMMAR IN MATRIX FORM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856232"/>
          <a:ext cx="5577840" cy="1737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Variable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α₁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α₂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A11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A11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A11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A11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A11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6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989320" y="37947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AB | aB      A → a | BS      B → b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429768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443484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Substituting A's entries into S's column removes the indirect reference, aligning S's productions toward a terminal-leading form — the core step behind every transformation on the next slide.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C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GREIBACH NORMAL FORM CONVERTER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C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CFG IS TRANSFORMED UNTIL EVERY RULE STARTS WITH A TERMINAL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1737360"/>
            <a:ext cx="0" cy="3794760"/>
          </a:xfrm>
          <a:prstGeom prst="line">
            <a:avLst/>
          </a:prstGeom>
          <a:noFill/>
          <a:ln w="25400">
            <a:solidFill>
              <a:srgbClr val="1B2C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1545336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5453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CFG productions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0" y="15453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each rule the user enters, one production per 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25296" y="2304288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22529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23042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variables &amp; terminals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0" y="230428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symbol on the right-hand side of each rule.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25296" y="3063240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1225296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30632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unwanted productions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0" y="30632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null, unit, and left-recursive productions first.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25296" y="3822192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296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38221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leading variables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0" y="38221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leading non-terminal with its own expansions.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25296" y="4581144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296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74520" y="45811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until terminal-first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83680" y="458114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substitution until every rule starts with a terminal.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25296" y="5340096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1225296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74520" y="53400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final GNF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83680" y="534009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fully transformed set of A → aα productions.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GREIBACH NORMAL FORM CONVERTER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swayam089-hub.github.io/GNF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29000" cy="274320"/>
          </a:xfrm>
          <a:prstGeom prst="roundRect">
            <a:avLst>
              <a:gd name="adj" fmla="val 23333"/>
            </a:avLst>
          </a:prstGeom>
          <a:solidFill>
            <a:srgbClr val="0A1128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517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5179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517904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538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8013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Context-Free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141732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17320"/>
            <a:ext cx="3429000" cy="274320"/>
          </a:xfrm>
          <a:prstGeom prst="roundRect">
            <a:avLst>
              <a:gd name="adj" fmla="val 23333"/>
            </a:avLst>
          </a:prstGeom>
          <a:solidFill>
            <a:srgbClr val="0A112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53128" y="1517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636008" y="15179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8888" y="1517904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251192" y="14538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07992" y="18013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Grammar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10144" y="141732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1417320"/>
            <a:ext cx="3429000" cy="274320"/>
          </a:xfrm>
          <a:prstGeom prst="roundRect">
            <a:avLst>
              <a:gd name="adj" fmla="val 23333"/>
            </a:avLst>
          </a:prstGeom>
          <a:solidFill>
            <a:srgbClr val="0A112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517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8321040" y="15179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1517904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36224" y="14538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93024" y="18013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Production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907792"/>
            <a:ext cx="3429000" cy="274320"/>
          </a:xfrm>
          <a:prstGeom prst="roundRect">
            <a:avLst>
              <a:gd name="adj" fmla="val 23333"/>
            </a:avLst>
          </a:prstGeom>
          <a:solidFill>
            <a:srgbClr val="0A1128"/>
          </a:solidFill>
          <a:ln/>
        </p:spPr>
      </p:sp>
      <p:sp>
        <p:nvSpPr>
          <p:cNvPr id="27" name="Shape 25"/>
          <p:cNvSpPr/>
          <p:nvPr/>
        </p:nvSpPr>
        <p:spPr>
          <a:xfrm>
            <a:off x="768096" y="3008376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" y="3008376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3856" y="300837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9443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3291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Steps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25112" y="2907792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2907792"/>
            <a:ext cx="3429000" cy="274320"/>
          </a:xfrm>
          <a:prstGeom prst="roundRect">
            <a:avLst>
              <a:gd name="adj" fmla="val 23333"/>
            </a:avLst>
          </a:prstGeom>
          <a:solidFill>
            <a:srgbClr val="0A1128"/>
          </a:solidFill>
          <a:ln/>
        </p:spPr>
      </p:sp>
      <p:sp>
        <p:nvSpPr>
          <p:cNvPr id="34" name="Shape 32"/>
          <p:cNvSpPr/>
          <p:nvPr/>
        </p:nvSpPr>
        <p:spPr>
          <a:xfrm>
            <a:off x="4453128" y="3008376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4636008" y="3008376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4818888" y="300837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7251192" y="29443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07992" y="3291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GNF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10144" y="2907792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10144" y="2907792"/>
            <a:ext cx="3429000" cy="274320"/>
          </a:xfrm>
          <a:prstGeom prst="roundRect">
            <a:avLst>
              <a:gd name="adj" fmla="val 23333"/>
            </a:avLst>
          </a:prstGeom>
          <a:solidFill>
            <a:srgbClr val="0A1128"/>
          </a:solidFill>
          <a:ln/>
        </p:spPr>
      </p:sp>
      <p:sp>
        <p:nvSpPr>
          <p:cNvPr id="41" name="Shape 39"/>
          <p:cNvSpPr/>
          <p:nvPr/>
        </p:nvSpPr>
        <p:spPr>
          <a:xfrm>
            <a:off x="8138160" y="3008376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8321040" y="3008376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300837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10936224" y="29443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93024" y="3291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GNF Validation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0080" y="4535424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0A1128"/>
          </a:solidFill>
          <a:ln/>
        </p:spPr>
      </p:sp>
      <p:sp>
        <p:nvSpPr>
          <p:cNvPr id="47" name="Shape 45"/>
          <p:cNvSpPr/>
          <p:nvPr/>
        </p:nvSpPr>
        <p:spPr>
          <a:xfrm>
            <a:off x="868680" y="4718304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47183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CFG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255264" y="4928616"/>
            <a:ext cx="210312" cy="128016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50" name="Shape 48"/>
          <p:cNvSpPr/>
          <p:nvPr/>
        </p:nvSpPr>
        <p:spPr>
          <a:xfrm>
            <a:off x="3520440" y="4718304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47183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907024" y="4928616"/>
            <a:ext cx="210312" cy="128016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53" name="Shape 51"/>
          <p:cNvSpPr/>
          <p:nvPr/>
        </p:nvSpPr>
        <p:spPr>
          <a:xfrm>
            <a:off x="6172200" y="4718304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47183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GNF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558784" y="4928616"/>
            <a:ext cx="210312" cy="128016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56" name="Shape 54"/>
          <p:cNvSpPr/>
          <p:nvPr/>
        </p:nvSpPr>
        <p:spPr>
          <a:xfrm>
            <a:off x="8823960" y="4718304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23960" y="47183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✓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C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GREIBACH NORMAL FORM CONVERTER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C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19202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converts CFG productions into GNF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24963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production follows the required A → aα structure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07238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307238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transformation steps for better understanding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64845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364845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built-in GNF 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13224A"/>
          </a:solidFill>
          <a:ln w="12700">
            <a:solidFill>
              <a:srgbClr val="1E5F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4630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965960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1B2C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9659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587752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1B2C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5877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Language Processing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209544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1B2C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0954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Algorithms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831336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1B2C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83133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0F1E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622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1371600" y="4736592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GNF Converter provides a systematic and interactive approach for converting Context-Free Grammars into Greibach Normal Form using an algebraic production matrix and step-by-step transformations.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GREIBACH NORMAL FORM CONVERTER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602</Words>
  <Application>Microsoft Office PowerPoint</Application>
  <PresentationFormat>Widescreen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Swayam Bobade</cp:lastModifiedBy>
  <cp:revision>3</cp:revision>
  <dcterms:created xsi:type="dcterms:W3CDTF">2026-09-10T13:48:12Z</dcterms:created>
  <dcterms:modified xsi:type="dcterms:W3CDTF">2026-09-10T18:02:35Z</dcterms:modified>
</cp:coreProperties>
</file>